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2F26"/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1828800" y="4206240"/>
            <a:ext cx="16459200" cy="4572000"/>
          </a:xfrm>
          <a:prstGeom prst="rect">
            <a:avLst/>
          </a:prstGeom>
          <a:solidFill>
            <a:srgbClr val="0A4F3E"/>
          </a:solidFill>
          <a:ln/>
        </p:spPr>
      </p:sp>
      <p:sp>
        <p:nvSpPr>
          <p:cNvPr id="4" name="Shape 2"/>
          <p:cNvSpPr/>
          <p:nvPr/>
        </p:nvSpPr>
        <p:spPr>
          <a:xfrm rot="-360000">
            <a:off x="-1828800" y="5212080"/>
            <a:ext cx="16459200" cy="27432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D5C48"/>
          </a:solidFill>
          <a:ln w="12700">
            <a:solidFill>
              <a:srgbClr val="0D5C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-548640"/>
            <a:ext cx="1828800" cy="1828800"/>
          </a:xfrm>
          <a:prstGeom prst="ellipse">
            <a:avLst/>
          </a:prstGeom>
          <a:solidFill>
            <a:srgbClr val="C08A28"/>
          </a:solidFill>
          <a:ln w="12700">
            <a:solidFill>
              <a:srgbClr val="C08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FINAL PROJECT  ·  PHASE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F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MLOps pipeline — from raw data to a deployed,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F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monitored, self-retraining model in production.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5806440"/>
            <a:ext cx="1828800" cy="0"/>
          </a:xfrm>
          <a:prstGeom prst="line">
            <a:avLst/>
          </a:prstGeom>
          <a:noFill/>
          <a:ln w="25400">
            <a:solidFill>
              <a:srgbClr val="C08A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MAI201NAA.06381.2264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62362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presentation  ·  Solo submission  ·  August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1371600" cy="4114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37360" y="192938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737360" y="235000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churn prediction, and what the course project demonstrates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20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60920" y="192938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60920" y="235000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data, schema, and why it was generated this way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364992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502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37360" y="351129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737360" y="39319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every MLOps component connects end to end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3364992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50215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360920" y="351129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tracking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360920" y="39319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vs. two experiments in MLflow, and model selection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4946904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08406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737360" y="50932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Serving, CI/CD &amp; monitoring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737360" y="5513832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Docker, GitHub Actions, and drift-triggered retraining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4946904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508406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360920" y="50932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card, limitations &amp; demo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360920" y="5513832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assessment, and the live system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5800" y="6473952"/>
            <a:ext cx="10817352" cy="0"/>
          </a:xfrm>
          <a:prstGeom prst="line">
            <a:avLst/>
          </a:prstGeom>
          <a:noFill/>
          <a:ln w="9525">
            <a:solidFill>
              <a:srgbClr val="DEDC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577072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MAI201NAA.06381.2264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9545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1371600" cy="4114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6309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 companies lose recurring revenue every time a customer churns — retention teams need to know who is at risk before they leave, not after.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predict each customer's churn probability from account, billing, and service-usage data so retention efforts can be prioritized.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objective: build the full MLOps lifecycle around this model — data versioning, experiment tracking, containerized serving, CI/CD, and automated drift monitoring — not just a notebook that trains once.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0" y="187452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2039112"/>
            <a:ext cx="347472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38.7%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26680" y="2753258"/>
            <a:ext cx="3474720" cy="496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churn rate in the training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347472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3639312"/>
            <a:ext cx="347472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7,043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26680" y="4353458"/>
            <a:ext cx="3474720" cy="496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records used to train and evaluate the 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507492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BEAE2"/>
          </a:solidFill>
          <a:ln w="12700">
            <a:solidFill>
              <a:srgbClr val="FBEA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5239512"/>
            <a:ext cx="347472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25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phases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726680" y="5726887"/>
            <a:ext cx="3474720" cy="368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formation -&gt; pipeline -&gt; deployment &amp; monitoring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6473952"/>
            <a:ext cx="10817352" cy="0"/>
          </a:xfrm>
          <a:prstGeom prst="line">
            <a:avLst/>
          </a:prstGeom>
          <a:noFill/>
          <a:ln w="9525">
            <a:solidFill>
              <a:srgbClr val="DEDC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77072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MAI201NAA.06381.2264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545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1371600" cy="4114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dataset mimicking IBM/Kaggle "Telco Customer Churn" — generated because this build environment has no direct internet access to Kaggle. Same schema, same size (7,043 rows x 21 columns).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columns = customerID + 19 predictive features + the Churn label. After dropping the ID and separating the label, the model trains on exactly 19 features — the number referenced everywhere else in this project (MLflow, the API schema, drift monitoring).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Churn label is not random noise: it's generated from a logistic function over realistic churn drivers (contract type, tenure, internet service, tech support, payment method, monthly charges), so the pipeline has genuine signal to learn.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 stratified train/test split. Label encoding for categoricals (documented ordinal-assumption limitation for the Logistic Regression baseline). Median imputation on TotalCharges — the one column with missing values in the real dataset (11 rows); this synthetic version has none, but the step runs regardless for compatibility.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6473952"/>
            <a:ext cx="10817352" cy="0"/>
          </a:xfrm>
          <a:prstGeom prst="line">
            <a:avLst/>
          </a:prstGeom>
          <a:noFill/>
          <a:ln w="9525">
            <a:solidFill>
              <a:srgbClr val="DEDC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77072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MAI201NAA.06381.2264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9545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ALL CONNECTS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1371600" cy="4114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83080"/>
            <a:ext cx="3017520" cy="4206240"/>
          </a:xfrm>
          <a:prstGeom prst="roundRect">
            <a:avLst>
              <a:gd name="adj" fmla="val 2424"/>
            </a:avLst>
          </a:prstGeom>
          <a:solidFill>
            <a:srgbClr val="FAFAF7"/>
          </a:solidFill>
          <a:ln w="12700">
            <a:solidFill>
              <a:srgbClr val="EAE8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965960"/>
            <a:ext cx="128016" cy="12801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874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(DVC)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50976" y="2093976"/>
            <a:ext cx="0" cy="329184"/>
          </a:xfrm>
          <a:prstGeom prst="line">
            <a:avLst/>
          </a:prstGeom>
          <a:noFill/>
          <a:ln w="12700">
            <a:solidFill>
              <a:srgbClr val="CFE4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478024"/>
            <a:ext cx="128016" cy="12801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8658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(prepare/train/evaluate)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50976" y="2606040"/>
            <a:ext cx="0" cy="329184"/>
          </a:xfrm>
          <a:prstGeom prst="line">
            <a:avLst/>
          </a:prstGeom>
          <a:noFill/>
          <a:ln w="12700">
            <a:solidFill>
              <a:srgbClr val="CFE4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990088"/>
            <a:ext cx="128016" cy="12801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8986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tracking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0976" y="3118104"/>
            <a:ext cx="0" cy="329184"/>
          </a:xfrm>
          <a:prstGeom prst="line">
            <a:avLst/>
          </a:prstGeom>
          <a:noFill/>
          <a:ln w="12700">
            <a:solidFill>
              <a:srgbClr val="CFE4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3502152"/>
            <a:ext cx="128016" cy="12801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4107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Docker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0976" y="3630168"/>
            <a:ext cx="0" cy="329184"/>
          </a:xfrm>
          <a:prstGeom prst="line">
            <a:avLst/>
          </a:prstGeom>
          <a:noFill/>
          <a:ln w="12700">
            <a:solidFill>
              <a:srgbClr val="CFE4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4014216"/>
            <a:ext cx="128016" cy="12801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9227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0976" y="4142232"/>
            <a:ext cx="0" cy="329184"/>
          </a:xfrm>
          <a:prstGeom prst="line">
            <a:avLst/>
          </a:prstGeom>
          <a:noFill/>
          <a:ln w="12700">
            <a:solidFill>
              <a:srgbClr val="CFE4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" y="4526280"/>
            <a:ext cx="128016" cy="12801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434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(Render)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0976" y="4654296"/>
            <a:ext cx="0" cy="329184"/>
          </a:xfrm>
          <a:prstGeom prst="line">
            <a:avLst/>
          </a:prstGeom>
          <a:noFill/>
          <a:ln w="12700">
            <a:solidFill>
              <a:srgbClr val="CFE4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5038344"/>
            <a:ext cx="128016" cy="12801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49469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monitoring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0976" y="5166360"/>
            <a:ext cx="0" cy="329184"/>
          </a:xfrm>
          <a:prstGeom prst="line">
            <a:avLst/>
          </a:prstGeom>
          <a:noFill/>
          <a:ln w="12700">
            <a:solidFill>
              <a:srgbClr val="CFE4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6112" y="5550408"/>
            <a:ext cx="128016" cy="12801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54589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-&gt; auto-redeploy</a:t>
            </a:r>
            <a:endParaRPr lang="en-US" sz="1100" dirty="0"/>
          </a:p>
        </p:txBody>
      </p:sp>
      <p:pic>
        <p:nvPicPr>
          <p:cNvPr id="30" name="Image 0" descr="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025" y="1600200"/>
            <a:ext cx="2463311" cy="470916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85800" y="6473952"/>
            <a:ext cx="10817352" cy="0"/>
          </a:xfrm>
          <a:prstGeom prst="line">
            <a:avLst/>
          </a:prstGeom>
          <a:noFill/>
          <a:ln w="9525">
            <a:solidFill>
              <a:srgbClr val="DEDCD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8577072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MAI201NAA.06381.2264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09545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tracking (MLflow)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1371600" cy="41148"/>
          </a:xfrm>
          <a:prstGeom prst="rect">
            <a:avLst/>
          </a:prstGeom>
          <a:solidFill>
            <a:srgbClr val="0F6E56"/>
          </a:solidFill>
          <a:ln/>
        </p:spPr>
      </p:sp>
      <p:pic>
        <p:nvPicPr>
          <p:cNvPr id="6" name="Image 0" descr="reports/mlflow_experimen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11201400" cy="275793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4160520"/>
            <a:ext cx="10835640" cy="502920"/>
          </a:xfrm>
          <a:prstGeom prst="roundRect">
            <a:avLst>
              <a:gd name="adj" fmla="val 14545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224528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Selected: </a:t>
            </a:r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 (n_estimators=150, learning_rate=0.05, max_depth=3) — highest ROC-AUC (0.838)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484632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metrics computed at decision threshold = 0.5. ROC-AUC (threshold-independent) is the model-selection metric because the retention team ranks customers by risk rather than acting on a fixed cutoff.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is tracked alongside precision because missing an actual churner (false negative) costs more than one unnecessary retention call (false positive) — a production system could lower the threshold below 0.5 to trade precision for recall without changing which model wins on ROC-AUC.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6473952"/>
            <a:ext cx="10817352" cy="0"/>
          </a:xfrm>
          <a:prstGeom prst="line">
            <a:avLst/>
          </a:prstGeom>
          <a:noFill/>
          <a:ln w="9525">
            <a:solidFill>
              <a:srgbClr val="DEDC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tracking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577072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MAI201NAA.06381.2264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9545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MODEL TO ENDPOINT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&amp; deployment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1371600" cy="4114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59893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served through a FastAPI app exposing /predict, /health, and /model-info.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Pydantic model validates the full request against all 19 required fields (types, allowed categories, numeric ranges) before prediction — the JSON shown here is truncated for slide space, not what the API actually accepts.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Packaged into a Docker image (python:3.11-slim base, health-checked).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to Render, triggered automatically by GitHub Actions on every push to main.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automated pytest tests cover valid predictions, input validation, and health checks.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783080"/>
            <a:ext cx="4434840" cy="4480560"/>
          </a:xfrm>
          <a:prstGeom prst="roundRect">
            <a:avLst>
              <a:gd name="adj" fmla="val 2062"/>
            </a:avLst>
          </a:prstGeom>
          <a:solidFill>
            <a:srgbClr val="16241F"/>
          </a:solidFill>
          <a:ln w="12700">
            <a:solidFill>
              <a:srgbClr val="1624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0" y="1920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E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   (all 19 fields required)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0" y="2286000"/>
            <a:ext cx="40233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7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"gender": "Female", "SeniorCitizen": 0,</a:t>
            </a:r>
            <a:endParaRPr lang="en-US" sz="87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"Partner": "No", "Dependents": "No",</a:t>
            </a:r>
            <a:endParaRPr lang="en-US" sz="87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"tenure": 5, "PhoneService": "Yes",</a:t>
            </a:r>
            <a:endParaRPr lang="en-US" sz="87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"MultipleLines": "No",</a:t>
            </a:r>
            <a:endParaRPr lang="en-US" sz="87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"InternetService": "Fiber optic",</a:t>
            </a:r>
            <a:endParaRPr lang="en-US" sz="87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"OnlineSecurity": "No", "OnlineBackup": "No",</a:t>
            </a:r>
            <a:endParaRPr lang="en-US" sz="87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"DeviceProtection": "No", "TechSupport": "No",</a:t>
            </a:r>
            <a:endParaRPr lang="en-US" sz="87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"StreamingTV": "No", "StreamingMovies": "No",</a:t>
            </a:r>
            <a:endParaRPr lang="en-US" sz="87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"Contract": "Month-to-month",</a:t>
            </a:r>
            <a:endParaRPr lang="en-US" sz="87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"PaperlessBilling": "Yes",</a:t>
            </a:r>
            <a:endParaRPr lang="en-US" sz="87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"PaymentMethod": "Electronic check",</a:t>
            </a:r>
            <a:endParaRPr lang="en-US" sz="87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"MonthlyCharges": 85.0, "TotalCharges": 425.0</a:t>
            </a:r>
            <a:endParaRPr lang="en-US" sz="87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7315200" y="4892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B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0" y="516636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"churn_prediction": "Yes", "churn_probability": 0.932,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3E7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"model_version": "gradient_boosting_v1" }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685800" y="6473952"/>
            <a:ext cx="10817352" cy="0"/>
          </a:xfrm>
          <a:prstGeom prst="line">
            <a:avLst/>
          </a:prstGeom>
          <a:noFill/>
          <a:ln w="9525">
            <a:solidFill>
              <a:srgbClr val="DED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&amp; deployment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77072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MAI201NAA.06381.2264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9545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 (GitHub Actions)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1371600" cy="4114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74520"/>
            <a:ext cx="2468880" cy="2148840"/>
          </a:xfrm>
          <a:prstGeom prst="roundRect">
            <a:avLst>
              <a:gd name="adj" fmla="val 4255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0392" y="24871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&amp; test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0392" y="2926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flake8 + pytest on every push/PR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82112" y="2697480"/>
            <a:ext cx="23774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10712" y="1874520"/>
            <a:ext cx="2468880" cy="2148840"/>
          </a:xfrm>
          <a:prstGeom prst="roundRect">
            <a:avLst>
              <a:gd name="adj" fmla="val 4255"/>
            </a:avLst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5304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75304" y="24871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push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75304" y="2926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image built and pushed to registry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07024" y="2697480"/>
            <a:ext cx="23774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35624" y="1874520"/>
            <a:ext cx="2468880" cy="2148840"/>
          </a:xfrm>
          <a:prstGeom prst="roundRect">
            <a:avLst>
              <a:gd name="adj" fmla="val 4255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0216" y="24871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00216" y="2926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deploy hook triggered automatically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31936" y="2697480"/>
            <a:ext cx="23774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860536" y="1874520"/>
            <a:ext cx="2468880" cy="2148840"/>
          </a:xfrm>
          <a:prstGeom prst="roundRect">
            <a:avLst>
              <a:gd name="adj" fmla="val 4255"/>
            </a:avLst>
          </a:prstGeom>
          <a:solidFill>
            <a:srgbClr val="FBEAE2"/>
          </a:solidFill>
          <a:ln w="12700">
            <a:solidFill>
              <a:srgbClr val="FBEA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25128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25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25128" y="248716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&amp; retrain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025128" y="2926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drift check; if triggered, commits new model and redeploys automatically (separate job, no manual step)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" y="434340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file: .github/workflows/ci-cd.yml — triggers on push to main, pull requests, and a daily 06:00 UTC schedule.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drift is detected, retrain.py's commit is deliberately NOT tagged [skip ci] — it flows into a redeploy-after-retrain job that rebuilds the image and re-hits the Render deploy hook automatically.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6473952"/>
            <a:ext cx="10817352" cy="0"/>
          </a:xfrm>
          <a:prstGeom prst="line">
            <a:avLst/>
          </a:prstGeom>
          <a:noFill/>
          <a:ln w="9525">
            <a:solidFill>
              <a:srgbClr val="DEDC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577072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MAI201NAA.06381.2264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9545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STAYING ACCURATE IN PRODUCTION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drift detection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1371600" cy="4114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6309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EvidentlyAI compares live production data against the training-time reference distribution, feature by feature.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a realistic drift scenario for the demo: a marketing push shifted new sign-ups toward shorter tenure and higher monthly charges.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3 of 19 features drifted (15.8% drift share) — exceeded the 15% threshold, so retraining was flagged automatically.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monitoring/retrain.py backs up the current model, then re-runs the DVC pipeline to produce a fresh one; the CI/CD pipeline then redeploys it (see previous slide).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182880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BEAE2"/>
          </a:solidFill>
          <a:ln w="12700">
            <a:solidFill>
              <a:srgbClr val="FBEA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1993392"/>
            <a:ext cx="3474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25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26680" y="2622499"/>
            <a:ext cx="34747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drifted in the simulated batch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32918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BF1DD"/>
          </a:solidFill>
          <a:ln w="12700">
            <a:solidFill>
              <a:srgbClr val="FBF1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3456432"/>
            <a:ext cx="3474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26680" y="4085539"/>
            <a:ext cx="34747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share — above the 15% retrain threshold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475488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E7F5EF"/>
          </a:solidFill>
          <a:ln w="12700">
            <a:solidFill>
              <a:srgbClr val="E7F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4919472"/>
            <a:ext cx="347472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726680" y="5406847"/>
            <a:ext cx="3474720" cy="368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 + redeploy, no manual intervention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6473952"/>
            <a:ext cx="10817352" cy="0"/>
          </a:xfrm>
          <a:prstGeom prst="line">
            <a:avLst/>
          </a:prstGeom>
          <a:noFill/>
          <a:ln w="9525">
            <a:solidFill>
              <a:srgbClr val="DEDC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drift detection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77072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MAI201NAA.06381.2264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545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card &amp; limitations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1371600" cy="4114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@ threshold=0.5 — Accuracy 0.762, Precision 0.720, Recall 0.632, F1 0.673, ROC-AUC 0.838 on held-out test data.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on ROC-AUC (ranking quality) because the model ranks customers by risk for a capacity-limited retention team; precision/recall/F1 are reported at the standard 0.5 threshold for interpretability.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10607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synthetic data — never seen real customer behavior.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fairness/bias audit across demographic groups yet.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encoding creates an ordinal assumption for the Logistic Regression baseline (documented, not hidden).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63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 (38.7% churn) affects recall on the minority class.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6473952"/>
            <a:ext cx="10817352" cy="0"/>
          </a:xfrm>
          <a:prstGeom prst="line">
            <a:avLst/>
          </a:prstGeom>
          <a:noFill/>
          <a:ln w="9525">
            <a:solidFill>
              <a:srgbClr val="DEDC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card &amp; limitations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577072" y="6528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MAI201NAA.06381.2264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9545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2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80000">
            <a:off x="-1828800" y="-914400"/>
            <a:ext cx="16459200" cy="3657600"/>
          </a:xfrm>
          <a:prstGeom prst="rect">
            <a:avLst/>
          </a:prstGeom>
          <a:solidFill>
            <a:srgbClr val="0A4F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&amp; REPOSITORY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see it running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615184"/>
            <a:ext cx="109728" cy="109728"/>
          </a:xfrm>
          <a:prstGeom prst="ellipse">
            <a:avLst/>
          </a:prstGeom>
          <a:solidFill>
            <a:srgbClr val="C08A28"/>
          </a:solidFill>
          <a:ln w="12700">
            <a:solidFill>
              <a:srgbClr val="C08A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487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F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24871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[public Render URL after deployment]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118104"/>
            <a:ext cx="109728" cy="109728"/>
          </a:xfrm>
          <a:prstGeom prst="ellipse">
            <a:avLst/>
          </a:prstGeom>
          <a:solidFill>
            <a:srgbClr val="C08A28"/>
          </a:solidFill>
          <a:ln w="12700">
            <a:solidFill>
              <a:srgbClr val="C08A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9900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F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9900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[repo URL]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621024"/>
            <a:ext cx="109728" cy="109728"/>
          </a:xfrm>
          <a:prstGeom prst="ellipse">
            <a:avLst/>
          </a:prstGeom>
          <a:solidFill>
            <a:srgbClr val="C08A28"/>
          </a:solidFill>
          <a:ln w="12700">
            <a:solidFill>
              <a:srgbClr val="C08A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493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F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49300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 customer profile to /predict -&gt; inspect response -&gt; show MLflow UI -&gt; show drift report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5120640"/>
            <a:ext cx="1828800" cy="0"/>
          </a:xfrm>
          <a:prstGeom prst="line">
            <a:avLst/>
          </a:prstGeom>
          <a:noFill/>
          <a:ln w="25400">
            <a:solidFill>
              <a:srgbClr val="C08A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349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MAI201NAA.06381.2264  ·  Project Phase 2 final presentation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MAI201NAA.06381.2264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Customer Churn Prediction — MLOps Project</dc:creator>
  <cp:lastModifiedBy>Customer Churn Prediction — MLOps Project</cp:lastModifiedBy>
  <cp:revision>1</cp:revision>
  <dcterms:created xsi:type="dcterms:W3CDTF">2026-08-11T04:43:29Z</dcterms:created>
  <dcterms:modified xsi:type="dcterms:W3CDTF">2026-08-11T04:43:29Z</dcterms:modified>
</cp:coreProperties>
</file>